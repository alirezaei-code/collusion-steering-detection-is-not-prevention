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9844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B45309"/>
                </a:solidFill>
                <a:latin typeface="Helvetica Neue"/>
              </a:rPr>
              <a:t>APART AI COLLUSION SPRINT  ·  TRACK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0">
                <a:solidFill>
                  <a:srgbClr val="111418"/>
                </a:solidFill>
                <a:latin typeface="Helvetica Neue"/>
              </a:rPr>
              <a:t>Detection is not</a:t>
            </a:r>
          </a:p>
          <a:p>
            <a:pPr algn="l">
              <a:lnSpc>
                <a:spcPct val="112000"/>
              </a:lnSpc>
            </a:pPr>
            <a:r>
              <a:rPr sz="5400" b="1" i="0">
                <a:solidFill>
                  <a:srgbClr val="111418"/>
                </a:solidFill>
                <a:latin typeface="Helvetica Neue"/>
              </a:rPr>
              <a:t>prevention.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0440"/>
            <a:ext cx="9052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5B6470"/>
                </a:solidFill>
                <a:latin typeface="Helvetica Neue"/>
              </a:rPr>
              <a:t>A monitor that catches collusion perfectly still changes nothing. We built the</a:t>
            </a:r>
          </a:p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5B6470"/>
                </a:solidFill>
                <a:latin typeface="Helvetica Neue"/>
              </a:rPr>
              <a:t>loop that acts on the catch — and found that the part doing the work is not the monitor.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28032"/>
            <a:ext cx="3840480" cy="12801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10912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418"/>
                </a:solidFill>
                <a:latin typeface="Helvetica Neue"/>
              </a:rPr>
              <a:t>Ali Rezaei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418"/>
                </a:solidFill>
                <a:latin typeface="Helvetica Neue"/>
              </a:rPr>
              <a:t>York University, Department of EECS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AA2AD"/>
                </a:solidFill>
                <a:latin typeface="Helvetica Neue"/>
              </a:rPr>
              <a:t>165 runs · 4 models · 1 mechanism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The flag arrives after the vote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394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1418"/>
                </a:solidFill>
                <a:latin typeface="Helvetica Neue"/>
              </a:rPr>
              <a:t>A detector can be perfect</a:t>
            </a:r>
          </a:p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1418"/>
                </a:solidFill>
                <a:latin typeface="Helvetica Neue"/>
              </a:rPr>
              <a:t>and still protect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B45309"/>
                </a:solidFill>
                <a:latin typeface="Helvetica Neue"/>
              </a:rPr>
              <a:t>It buys a record of the failure, not a different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4028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5B6470"/>
                </a:solidFill>
                <a:latin typeface="Helvetica Neue"/>
              </a:rPr>
              <a:t>Flags arrive as dashboards, not as actions. The vote is cast, the allocation is made, the recommendation is filed.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977639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418"/>
                </a:solidFill>
                <a:latin typeface="Helvetica Neue"/>
              </a:rPr>
              <a:t>So the question is not whether we can see collusion.</a:t>
            </a:r>
          </a:p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418"/>
                </a:solidFill>
                <a:latin typeface="Helvetica Neue"/>
              </a:rPr>
              <a:t>It is whether acting on the signal changes anything.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Three questions, three different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0195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0"/>
                </a:solidFill>
                <a:latin typeface="Helvetica Neue"/>
              </a:rPr>
              <a:t>Most work answers Q1 and reports it as if it answered Q3. They need different labels and different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3291840" cy="3063240"/>
          </a:xfrm>
          <a:prstGeom prst="rect">
            <a:avLst/>
          </a:prstGeom>
          <a:noFill/>
          <a:ln w="12700">
            <a:solidFill>
              <a:srgbClr val="DED8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8895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9AA2AD"/>
                </a:solidFill>
                <a:latin typeface="Helvetica Neue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321868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1418"/>
                </a:solidFill>
                <a:latin typeface="Helvetica Neue"/>
              </a:rP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3712463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Can a monitor tell collusion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from honest disagreement?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455371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A2AD"/>
                </a:solidFill>
                <a:latin typeface="Helvetica Neue"/>
              </a:rPr>
              <a:t>label: outcome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A2AD"/>
                </a:solidFill>
                <a:latin typeface="Helvetica Neue"/>
              </a:rPr>
              <a:t>control: content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8136" y="51206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5189220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5B6470"/>
                </a:solidFill>
                <a:latin typeface="Helvetica Neue"/>
              </a:rPr>
              <a:t>not identified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697480"/>
            <a:ext cx="3291840" cy="3063240"/>
          </a:xfrm>
          <a:prstGeom prst="rect">
            <a:avLst/>
          </a:prstGeom>
          <a:noFill/>
          <a:ln w="12700">
            <a:solidFill>
              <a:srgbClr val="DED8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8895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9AA2AD"/>
                </a:solidFill>
                <a:latin typeface="Helvetica Neue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321868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1418"/>
                </a:solidFill>
                <a:latin typeface="Helvetica Neue"/>
              </a:rPr>
              <a:t>Causation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712463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Are the directions that detect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it actually doing the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455371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A2AD"/>
                </a:solidFill>
                <a:latin typeface="Helvetica Neue"/>
              </a:rPr>
              <a:t>label: behaviour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A2AD"/>
                </a:solidFill>
                <a:latin typeface="Helvetica Neue"/>
              </a:rPr>
              <a:t>control: random direction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0016" y="51206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5189220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5B6470"/>
                </a:solidFill>
                <a:latin typeface="Helvetica Neue"/>
              </a:rPr>
              <a:t>specified, not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697480"/>
            <a:ext cx="3291840" cy="306324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8895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B45309"/>
                </a:solidFill>
                <a:latin typeface="Helvetica Neue"/>
              </a:rP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21868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1418"/>
                </a:solidFill>
                <a:latin typeface="Helvetica Neue"/>
              </a:rPr>
              <a:t>Prevention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712463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Does acting on the signal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reduce collusion, at what cost?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55371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A2AD"/>
                </a:solidFill>
                <a:latin typeface="Helvetica Neue"/>
              </a:rPr>
              <a:t>label: behaviour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A2AD"/>
                </a:solidFill>
                <a:latin typeface="Helvetica Neue"/>
              </a:rPr>
              <a:t>control: matched placebo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11896" y="51206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189220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this paper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Three agents, a private instruction, a public vote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0"/>
                </a:solidFill>
                <a:latin typeface="Helvetica Neue"/>
              </a:rPr>
              <a:t>Five procurement-style committees. One evidence-supported answer, one opposite target. A and B are told to steer to the target; C is honest.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97480"/>
            <a:ext cx="1508760" cy="786384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 w="12700">
            <a:solidFill>
              <a:srgbClr val="DED8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76148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418"/>
                </a:solidFill>
                <a:latin typeface="Helvetica Neue"/>
              </a:rPr>
              <a:t>Agent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1272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B45309"/>
                </a:solidFill>
                <a:latin typeface="Helvetica Neue"/>
              </a:rPr>
              <a:t>colluder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697480"/>
            <a:ext cx="1508760" cy="786384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 w="12700">
            <a:solidFill>
              <a:srgbClr val="DED8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76148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418"/>
                </a:solidFill>
                <a:latin typeface="Helvetica Neue"/>
              </a:rPr>
              <a:t>Agent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31272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B45309"/>
                </a:solidFill>
                <a:latin typeface="Helvetica Neue"/>
              </a:rPr>
              <a:t>colluder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697480"/>
            <a:ext cx="15087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8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1" y="276148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418"/>
                </a:solidFill>
                <a:latin typeface="Helvetica Neue"/>
              </a:rPr>
              <a:t>Agent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31272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Helvetica Neue"/>
              </a:rPr>
              <a:t>honest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7889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9AA2AD"/>
                </a:solidFill>
                <a:latin typeface="Helvetica Neue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65176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D8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74320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418"/>
                </a:solidFill>
                <a:latin typeface="Helvetica Neue"/>
              </a:rPr>
              <a:t>2 rounds, then a vote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090672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Helvetica Neue"/>
              </a:rPr>
              <a:t>public transcript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8221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418"/>
                </a:solidFill>
                <a:latin typeface="Helvetica Neue"/>
              </a:rPr>
              <a:t>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22192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Simultaneous. Neither colluder sees the other, so a code word is the only coalition signal.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1655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3982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418"/>
                </a:solidFill>
                <a:latin typeface="Helvetica Neue"/>
              </a:rPr>
              <a:t>Monitor fires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398264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Scores the transcript, flags an agent. In this pilot it is an oracle: it knows the code word.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9262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7433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418"/>
                </a:solidFill>
                <a:latin typeface="Helvetica Neue"/>
              </a:rPr>
              <a:t>Intervention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974336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A notice goes to the flagged agent between rounds — steer, quarantine, or a matched placebo.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6869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5504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418"/>
                </a:solidFill>
                <a:latin typeface="Helvetica Neue"/>
              </a:rPr>
              <a:t>Round 2 + vote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550408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The majority decides. With 2 colluders out of 3, the pair can outvote the honest agent.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RESULT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It looked like a firewall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0"/>
                </a:solidFill>
                <a:latin typeface="Helvetica Neue"/>
              </a:rPr>
              <a:t>25 runs, five scenarios, one seed. Monitor-triggered notice between rounds.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9689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418"/>
                </a:solidFill>
                <a:latin typeface="Helvetica Neue"/>
              </a:rPr>
              <a:t>no intervention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487168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5B6470"/>
                </a:solidFill>
                <a:latin typeface="Helvetica Neue"/>
              </a:rPr>
              <a:t>5/5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6334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collusion still succeeds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381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418"/>
                </a:solidFill>
                <a:latin typeface="Helvetica Neue"/>
              </a:rPr>
              <a:t>matched placebo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328416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5B6470"/>
                </a:solidFill>
                <a:latin typeface="Helvetica Neue"/>
              </a:rPr>
              <a:t>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474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length and directive form held constant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79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418"/>
                </a:solidFill>
                <a:latin typeface="Helvetica Neue"/>
              </a:rPr>
              <a:t>steer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169664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B45309"/>
                </a:solidFill>
                <a:latin typeface="Helvetica Neue"/>
              </a:rPr>
              <a:t>0/5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3159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notice overrides the private instruction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418"/>
                </a:solidFill>
                <a:latin typeface="Helvetica Neue"/>
              </a:rPr>
              <a:t>quarantine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5010912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B45309"/>
                </a:solidFill>
                <a:latin typeface="Helvetica Neue"/>
              </a:rPr>
              <a:t>0/5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5721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flagged message suppressed, then same notice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377440"/>
            <a:ext cx="10634472" cy="7315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742432"/>
            <a:ext cx="10634472" cy="7315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704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418"/>
                </a:solidFill>
                <a:latin typeface="Helvetica Neue"/>
              </a:rPr>
              <a:t>Paired exact McNemar  p = 0.0625 — the floor at five scenarios.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8704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45309"/>
                </a:solidFill>
                <a:latin typeface="Helvetica Neue"/>
              </a:rPr>
              <a:t>Consistent, not significant.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THE CRACK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One colluder defects. Always the same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0"/>
                </a:solidFill>
                <a:latin typeface="Helvetica Neue"/>
              </a:rPr>
              <a:t>The majority flips 2–1. That could mean the coalition broke — or that a single vote moved. The vote records say the second.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6720840" cy="292608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5292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5B6470"/>
                </a:solidFill>
                <a:latin typeface="Helvetica Neue"/>
              </a:rPr>
              <a:t>FINAL VOTES  ·  all five steer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418"/>
                </a:solidFill>
                <a:latin typeface="Helvetica Neue"/>
              </a:rPr>
              <a:t>A  colluder, flagged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2461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56D4A"/>
                </a:solidFill>
                <a:latin typeface="Helvetica Neue"/>
              </a:rPr>
              <a:t>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246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defected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593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418"/>
                </a:solidFill>
                <a:latin typeface="Helvetica Neue"/>
              </a:rPr>
              <a:t>B  colluder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95935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5B6470"/>
                </a:solidFill>
                <a:latin typeface="Helvetica Neue"/>
              </a:rP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9593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did not defect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72583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418"/>
                </a:solidFill>
                <a:latin typeface="Helvetica Neue"/>
              </a:rPr>
              <a:t>C  honest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672583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5B6470"/>
                </a:solidFill>
                <a:latin typeface="Helvetica Neue"/>
              </a:rPr>
              <a:t>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672583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never moved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520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11418"/>
                </a:solidFill>
                <a:latin typeface="Helvetica Neue"/>
              </a:rPr>
              <a:t>Exactly one of two colluders defected in 10 of 10 intervention runs.</a:t>
            </a:r>
          </a:p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11418"/>
                </a:solidFill>
                <a:latin typeface="Helvetica Neue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11418"/>
                </a:solidFill>
                <a:latin typeface="Helvetica Neue"/>
              </a:rPr>
              <a:t>The untargeted colluder still voted the target every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70916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B45309"/>
                </a:solidFill>
                <a:latin typeface="Helvetica Neue"/>
              </a:rPr>
              <a:t>So “the colluders defected” is wrong.</a:t>
            </a:r>
          </a:p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B45309"/>
                </a:solidFill>
                <a:latin typeface="Helvetica Neue"/>
              </a:rPr>
              <a:t>One agent changed side.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RESULT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So which part of the notice does the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0"/>
                </a:solidFill>
                <a:latin typeface="Helvetica Neue"/>
              </a:rPr>
              <a:t>Two grids, 50 runs. Same trigger, same target, only the wording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243230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5B6470"/>
                </a:solidFill>
                <a:latin typeface="Helvetica Neue"/>
              </a:rPr>
              <a:t>no directive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6672" y="243230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5B6470"/>
                </a:solidFill>
                <a:latin typeface="Helvetica Neue"/>
              </a:rPr>
              <a:t>honesty directive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36391"/>
            <a:ext cx="15727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5B6470"/>
                </a:solidFill>
                <a:latin typeface="Helvetica Neue"/>
              </a:rPr>
              <a:t>no monitor</a:t>
            </a:r>
          </a:p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5B6470"/>
                </a:solidFill>
                <a:latin typeface="Helvetica Neue"/>
              </a:rPr>
              <a:t>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07992"/>
            <a:ext cx="15727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5B6470"/>
                </a:solidFill>
                <a:latin typeface="Helvetica Neue"/>
              </a:rPr>
              <a:t>monitor</a:t>
            </a:r>
          </a:p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5B6470"/>
                </a:solidFill>
                <a:latin typeface="Helvetica Neue"/>
              </a:rPr>
              <a:t>notice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788920"/>
            <a:ext cx="2514600" cy="1207008"/>
          </a:xfrm>
          <a:prstGeom prst="roundRect">
            <a:avLst>
              <a:gd name="adj" fmla="val 6000"/>
            </a:avLst>
          </a:prstGeom>
          <a:solidFill>
            <a:srgbClr val="F5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953512"/>
            <a:ext cx="21122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B6470"/>
                </a:solidFill>
                <a:latin typeface="Helvetica Neue"/>
              </a:rPr>
              <a:t>no intervention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355848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5B6470"/>
                </a:solidFill>
                <a:latin typeface="Helvetica Neue"/>
              </a:rPr>
              <a:t>5/5 collusion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76672" y="2788920"/>
            <a:ext cx="2514600" cy="1207008"/>
          </a:xfrm>
          <a:prstGeom prst="roundRect">
            <a:avLst>
              <a:gd name="adj" fmla="val 6000"/>
            </a:avLst>
          </a:prstGeom>
          <a:solidFill>
            <a:srgbClr val="FBF2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953512"/>
            <a:ext cx="21122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B6470"/>
                </a:solidFill>
                <a:latin typeface="Helvetica Neue"/>
              </a:rPr>
              <a:t>act honestly, no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355848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B45309"/>
                </a:solidFill>
                <a:latin typeface="Helvetica Neue"/>
              </a:rPr>
              <a:t>0/5 collusion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4160520"/>
            <a:ext cx="2514600" cy="1207008"/>
          </a:xfrm>
          <a:prstGeom prst="roundRect">
            <a:avLst>
              <a:gd name="adj" fmla="val 6000"/>
            </a:avLst>
          </a:prstGeom>
          <a:solidFill>
            <a:srgbClr val="F5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325112"/>
            <a:ext cx="21122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B6470"/>
                </a:solidFill>
                <a:latin typeface="Helvetica Neue"/>
              </a:rPr>
              <a:t>monitor notice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4727448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5B6470"/>
                </a:solidFill>
                <a:latin typeface="Helvetica Neue"/>
              </a:rPr>
              <a:t>5/5 collusion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76672" y="4160520"/>
            <a:ext cx="2514600" cy="1207008"/>
          </a:xfrm>
          <a:prstGeom prst="roundRect">
            <a:avLst>
              <a:gd name="adj" fmla="val 6000"/>
            </a:avLst>
          </a:prstGeom>
          <a:solidFill>
            <a:srgbClr val="FBF2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325112"/>
            <a:ext cx="21122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B6470"/>
                </a:solidFill>
                <a:latin typeface="Helvetica Neue"/>
              </a:rPr>
              <a:t>flagged + act honestly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727448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B45309"/>
                </a:solidFill>
                <a:latin typeface="Helvetica Neue"/>
              </a:rPr>
              <a:t>0/5 collusion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788920"/>
            <a:ext cx="3337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B45309"/>
                </a:solidFill>
                <a:latin typeface="Helvetica Neue"/>
              </a:rPr>
              <a:t>The directive is necessary</a:t>
            </a:r>
          </a:p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B45309"/>
                </a:solidFill>
                <a:latin typeface="Helvetica Neue"/>
              </a:rPr>
              <a:t>and sufficient.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703320"/>
            <a:ext cx="3337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5B6470"/>
                </a:solidFill>
                <a:latin typeface="Helvetica Neue"/>
              </a:rPr>
              <a:t>Remove the monitor and the effect survives. Remove the directive and it disappears.</a:t>
            </a:r>
          </a:p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5B6470"/>
                </a:solidFill>
                <a:latin typeface="Helvetica Neue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5B6470"/>
                </a:solidFill>
                <a:latin typeface="Helvetica Neue"/>
              </a:rPr>
              <a:t>Targeting the honest agent does nothing; targeting either colluder works.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9AA2AD"/>
                </a:solidFill>
                <a:latin typeface="Helvetica Neue"/>
              </a:rPr>
              <a:t>WHAT THE MONITOR CONTRIBUTES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95728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0" b="1" i="0">
                <a:solidFill>
                  <a:srgbClr val="FFFFFF"/>
                </a:solidFill>
                <a:latin typeface="Helvetica Neue"/>
              </a:rPr>
              <a:t>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15968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D8D2CA"/>
                </a:solidFill>
                <a:latin typeface="Helvetica Neue"/>
              </a:rPr>
              <a:t>Its detection signal is not necessary for the effect, and not sufficient without a directive.</a:t>
            </a:r>
          </a:p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D8D2CA"/>
                </a:solidFill>
                <a:latin typeface="Helvetica Neue"/>
              </a:rPr>
              <a:t>A late “act honestly” is what flips the vote — whether or not anyone is watching.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RESULT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The notice only wins when nothing outranks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0"/>
                </a:solidFill>
                <a:latin typeface="Helvetica Neue"/>
              </a:rPr>
              <a:t>Same five arms on an open-weights 7B, with and without a system instruction to follow the private 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487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5B6470"/>
                </a:solidFill>
                <a:latin typeface="Helvetica Neue"/>
              </a:rPr>
              <a:t>with system instruction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487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5B6470"/>
                </a:solidFill>
                <a:latin typeface="Helvetica Neue"/>
              </a:rPr>
              <a:t>without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418"/>
                </a:solidFill>
                <a:latin typeface="Helvetica Neue"/>
              </a:rPr>
              <a:t>no intervention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5B6470"/>
                </a:solidFill>
                <a:latin typeface="Helvetica Neue"/>
              </a:rPr>
              <a:t>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5B6470"/>
                </a:solidFill>
                <a:latin typeface="Helvetica Neue"/>
              </a:rPr>
              <a:t>5/5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02152"/>
            <a:ext cx="6675120" cy="5486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21607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418"/>
                </a:solidFill>
                <a:latin typeface="Helvetica Neue"/>
              </a:rPr>
              <a:t>steer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63016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B45309"/>
                </a:solidFill>
                <a:latin typeface="Helvetica Neue"/>
              </a:rPr>
              <a:t>4/5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63016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B45309"/>
                </a:solidFill>
                <a:latin typeface="Helvetica Neue"/>
              </a:rPr>
              <a:t>1/5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51959"/>
            <a:ext cx="6675120" cy="5486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714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418"/>
                </a:solidFill>
                <a:latin typeface="Helvetica Neue"/>
              </a:rPr>
              <a:t>honesty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37997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B45309"/>
                </a:solidFill>
                <a:latin typeface="Helvetica Neue"/>
              </a:rPr>
              <a:t>4/5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437997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B45309"/>
                </a:solidFill>
                <a:latin typeface="Helvetica Neue"/>
              </a:rPr>
              <a:t>3/5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001768"/>
            <a:ext cx="6675120" cy="5486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A2AD"/>
                </a:solidFill>
                <a:latin typeface="Helvetica Neue"/>
              </a:rPr>
              <a:t>Collusion success — lower is 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788920"/>
            <a:ext cx="3520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B6470"/>
                </a:solidFill>
                <a:latin typeface="Helvetica Neue"/>
              </a:rPr>
              <a:t>With the role instruction in the system prompt, the notice prevents collusion in 1/5.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B6470"/>
                </a:solidFill>
                <a:latin typeface="Helvetica Neue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B6470"/>
                </a:solidFill>
                <a:latin typeface="Helvetica Neue"/>
              </a:rPr>
              <a:t>Remove that one clause and it prevents 4/5.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B6470"/>
                </a:solidFill>
                <a:latin typeface="Helvetica Neue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B6470"/>
                </a:solidFill>
                <a:latin typeface="Helvetica Neue"/>
              </a:rPr>
              <a:t>The notice borrows its authority from the hierarchy above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RESULT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The vote is decodable, and the decoder is inert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>
                <a:solidFill>
                  <a:srgbClr val="B45309"/>
                </a:solidFill>
                <a:latin typeface="Helvetica Neue"/>
              </a:rPr>
              <a:t>0.89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52928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B6470"/>
                </a:solidFill>
                <a:latin typeface="Helvetica Neue"/>
              </a:rPr>
              <a:t>leave-one-scenario-out AUROC for a probe that separates target votes from defections, at the final-vote token.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416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AA2AD"/>
                </a:solidFill>
                <a:latin typeface="Helvetica Neue"/>
              </a:rPr>
              <a:t>layer 26 of 28  ·  30 colluder states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9202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084831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5B6470"/>
                </a:solidFill>
                <a:latin typeface="Helvetica Neue"/>
              </a:rPr>
              <a:t>ABLATE THE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4871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111418"/>
                </a:solidFill>
                <a:latin typeface="Helvetica Neue"/>
              </a:rPr>
              <a:t>16 of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target-voting states still vote the target after the direction is projected out — identical to the random-direction control and to no intervention.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489204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B45309"/>
                </a:solidFill>
                <a:latin typeface="Helvetica Neue"/>
              </a:rPr>
              <a:t>The probe reads the decision. Removing what it reads does not move it: a correlate, not a mechanism.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WHAT THIS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An upper bound, stated as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074920" cy="384048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56D4A"/>
                </a:solidFill>
                <a:latin typeface="Helvetica Neue"/>
              </a:rPr>
              <a:t>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4526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11418"/>
                </a:solidFill>
                <a:latin typeface="Helvetica Neue"/>
              </a:rPr>
              <a:t>The closed loop can be built end to end and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36976"/>
            <a:ext cx="4526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11418"/>
                </a:solidFill>
                <a:latin typeface="Helvetica Neue"/>
              </a:rPr>
              <a:t>A prompt-level directive flips one colluder and changes the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86784"/>
            <a:ext cx="4526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11418"/>
                </a:solidFill>
                <a:latin typeface="Helvetica Neue"/>
              </a:rPr>
              <a:t>The effect does not depend on the monitor, or on which colluder is targeted.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36592"/>
            <a:ext cx="4526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11418"/>
                </a:solidFill>
                <a:latin typeface="Helvetica Neue"/>
              </a:rPr>
              <a:t>The notice loses to a competing system instruction (1/5 vs 4/5).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12064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8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84831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NOT 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87168"/>
            <a:ext cx="4572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That a deployable detector exists — the monitor is a code word oracle.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36976"/>
            <a:ext cx="4572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That detection is identified — the round-1 label is a content label.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86784"/>
            <a:ext cx="4572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That the vote direction is causal — it predicts, but ablation does not move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736592"/>
            <a:ext cx="4572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A general effect size: 5 scenarios, 1 seed, 4 models.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THE REAL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What would make this a firewall instead of a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0"/>
                </a:solidFill>
                <a:latin typeface="Helvetica Neue"/>
              </a:rPr>
              <a:t>Specified, with a pre-registered decision rule. Not run. Staged so the first causal test costs 130 runs, not 36,000.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DED8D1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6060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418"/>
                </a:solidFill>
                <a:latin typeface="Helvetica Neue"/>
              </a:rPr>
              <a:t>Direction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58775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5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2656332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5B6470"/>
                </a:solidFill>
                <a:latin typeface="Helvetica Neue"/>
              </a:rPr>
              <a:t>30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587752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Label behaviour at two decision points, not the condition: what the message advocates, and how the vote lands.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8503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DED8D1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68503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418"/>
                </a:solidFill>
                <a:latin typeface="Helvetica Neue"/>
              </a:rPr>
              <a:t>One causal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366674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5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3735324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5B6470"/>
                </a:solidFill>
                <a:latin typeface="Helvetica Neue"/>
              </a:rPr>
              <a:t>100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666744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Ablate the direction at one dose against a random direction. No dose sweep until this reads.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6402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DED8D1"/>
                </a:solidFill>
                <a:latin typeface="Helvetica Neu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7640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418"/>
                </a:solidFill>
                <a:latin typeface="Helvetica Neue"/>
              </a:rPr>
              <a:t>Dose sweep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474573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5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4814316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5B6470"/>
                </a:solidFill>
                <a:latin typeface="Helvetica Neue"/>
              </a:rPr>
              <a:t>only if positive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745736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0"/>
                </a:solidFill>
                <a:latin typeface="Helvetica Neue"/>
              </a:rPr>
              <a:t>Layer, alpha, token position — the part everyone runs first and learns nothing from.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632704"/>
            <a:ext cx="10634472" cy="7315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418"/>
                </a:solidFill>
                <a:latin typeface="Helvetica Neue"/>
              </a:rPr>
              <a:t>Pre-registered: ablation must cut collusion ≥15 points vs a random direction, with no tie-rate or capability cost.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45309"/>
                </a:solidFill>
                <a:latin typeface="Helvetica Neue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1418"/>
                </a:solidFill>
                <a:latin typeface="Helvetica Neue"/>
              </a:rPr>
              <a:t>The negative result is the useful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0634472" cy="10972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0"/>
                </a:solidFill>
                <a:latin typeface="Helvetica Neue"/>
              </a:rPr>
              <a:t>Every prevention claim of the form “our monitor reduced collusion” is now a claim that needs a directive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45720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532888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418"/>
                </a:solidFill>
                <a:latin typeface="Helvetica Neue"/>
              </a:rPr>
              <a:t>Reframes 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935224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A monitor-triggered drop in collusion is not evidence of detection working. It may be a late instruction.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514600"/>
            <a:ext cx="45720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532888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418"/>
                </a:solidFill>
                <a:latin typeface="Helvetica Neue"/>
              </a:rPr>
              <a:t>Cheap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935224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One extra arm — the directive without the monitor — settles it. No new model, no GPU.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45720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315968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418"/>
                </a:solidFill>
                <a:latin typeface="Helvetica Neue"/>
              </a:rPr>
              <a:t>Reusable 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718304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Scenarios, oracle, blinded label, matched placebo, defection outcome, resume-safe runner.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97680"/>
            <a:ext cx="45720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315968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418"/>
                </a:solidFill>
                <a:latin typeface="Helvetica Neue"/>
              </a:rPr>
              <a:t>A protocol, not a vibe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718304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0"/>
                </a:solidFill>
                <a:latin typeface="Helvetica Neue"/>
              </a:rPr>
              <a:t>The activation study has a staged budget, behaviour labels, and a pre-registered decision rule.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382512"/>
            <a:ext cx="10634472" cy="9144"/>
          </a:xfrm>
          <a:prstGeom prst="rect">
            <a:avLst/>
          </a:prstGeom>
          <a:solidFill>
            <a:srgbClr val="DED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4739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Detection Is Not Prevention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9AA2AD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9AA2AD"/>
                </a:solidFill>
                <a:latin typeface="Helvetica Neue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FFFFFF"/>
                </a:solidFill>
                <a:latin typeface="Helvetica Neue"/>
              </a:rPr>
              <a:t>A monitor that only</a:t>
            </a:r>
          </a:p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FFFFFF"/>
                </a:solidFill>
                <a:latin typeface="Helvetica Neue"/>
              </a:rPr>
              <a:t>watches is a log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D8D2CA"/>
                </a:solidFill>
                <a:latin typeface="Helvetica Neue"/>
              </a:rPr>
              <a:t>Closing the loop takes an instruction, and an instruction is not a mechanism.</a:t>
            </a:r>
          </a:p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D8D2CA"/>
                </a:solidFill>
                <a:latin typeface="Helvetica Neue"/>
              </a:rPr>
              <a:t>The next test is whether a direction, not a sentence, can move the vote.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349240"/>
            <a:ext cx="3840480" cy="12801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3212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B8B2AA"/>
                </a:solidFill>
                <a:latin typeface="Helvetica Neue"/>
              </a:rPr>
              <a:t>Ali Rezaei  ·  York University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B8B2AA"/>
                </a:solidFill>
                <a:latin typeface="Helvetica Neue"/>
              </a:rPr>
              <a:t>Papers and artifacts in the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553212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400" b="0" i="0">
                <a:solidFill>
                  <a:srgbClr val="B8B2AA"/>
                </a:solidFill>
                <a:latin typeface="Helvetica Neue"/>
              </a:rPr>
              <a:t>165 runs</a:t>
            </a:r>
          </a:p>
          <a:p>
            <a:pPr algn="r">
              <a:lnSpc>
                <a:spcPct val="112000"/>
              </a:lnSpc>
            </a:pPr>
            <a:r>
              <a:rPr sz="1400" b="0" i="0">
                <a:solidFill>
                  <a:srgbClr val="B8B2AA"/>
                </a:solidFill>
                <a:latin typeface="Helvetica Neue"/>
              </a:rPr>
              <a:t>148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